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BYPASSING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B4C8DC"/>
                </a:solidFill>
                <a:latin typeface="Calibri"/>
              </a:rPr>
              <a:t>Adversarial Attacks &amp; Defenses on Road Sign Classifiers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1F87E0"/>
                </a:solidFill>
                <a:latin typeface="Calibri"/>
              </a:rPr>
              <a:t>4 Attack Methods  ·  5 Defense Strategies  ·  ResNet-34  ·  GTSRB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A7B"/>
                </a:solidFill>
                <a:latin typeface="Calibri"/>
              </a:rPr>
              <a:t>Evaluating model robustness under adversarial perturbations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2B4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CNN classifiers power self-driving perception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Imperceptible pixel perturbations cause misclassification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A Stop sign can be read as Speed-limit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Need: quantify how defenses hold up under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2B4F"/>
                </a:solidFill>
                <a:latin typeface="Calibri"/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Train ResNet-34 on balanced GTSRB (4 classes)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Implement 4 attacks: FGSM, PGD, GA, DE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Implement 5 defenses across 3 categories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Run 4×5 = 20 attack-defense combinations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B4F"/>
                </a:solidFill>
                <a:latin typeface="Calibri"/>
              </a:rPr>
              <a:t>•  Build interactive web dashboard for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Dataset: GTSRB mapped 43 → 4 classes  |  Balanced 420/class train, 180/class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Classes: crosswalk · speedlimit · stop · trafficlight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Methods — Attacks &amp;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4351"/>
                </a:solidFill>
                <a:latin typeface="Calibri"/>
              </a:rPr>
              <a:t>Attacks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486400" cy="4389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FGSM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94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Gradient (ML)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Single step,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42032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PGD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Gradient (ML)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Iterative, strong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80944"/>
            <a:ext cx="5486400" cy="4389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Genetic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Evolutionary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Black-box, slow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19856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Differential 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Evolutionary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F2B4F"/>
                </a:solidFill>
                <a:latin typeface="Calibri"/>
              </a:rPr>
              <a:t>Black-box, strongest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EA75C"/>
                </a:solidFill>
                <a:latin typeface="Calibri"/>
              </a:rPr>
              <a:t>Defenses (5)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691640"/>
            <a:ext cx="5669280" cy="4114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76479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176479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4976" y="176479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103120"/>
            <a:ext cx="5669280" cy="4389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2194560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No 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194560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4976" y="2194560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542032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63347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Adversarial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263347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Proactive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2633472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Train on PGD examples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980944"/>
            <a:ext cx="5669280" cy="4389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307238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Defensive Distillation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307238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Proactive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4976" y="307238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Soft labels T=20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419856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3511296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Input Transformation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3511296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Pre-process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4976" y="3511296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Gaussian + median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858768"/>
            <a:ext cx="5669280" cy="4389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950208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Detection Network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3950208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Reactive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4976" y="3950208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F2B4F"/>
                </a:solidFill>
                <a:latin typeface="Calibri"/>
              </a:rPr>
              <a:t>Feature-based binary CNN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78815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Pipeline:  Image [0,1]  →  NormalizedModel  →  ResNet-34  →  Softmax  →  4 classes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Training Pipeline &amp;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1463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9144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2EA75C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A6A7B"/>
                </a:solidFill>
                <a:latin typeface="Calibri"/>
              </a:rPr>
              <a:t>Clean Val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1463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9144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1F87E0"/>
                </a:solidFill>
                <a:latin typeface="Calibri"/>
              </a:rPr>
              <a:t>2,160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A6A7B"/>
                </a:solidFill>
                <a:latin typeface="Calibri"/>
              </a:rPr>
              <a:t>Training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743200" cy="1463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2743200" cy="914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F2B4F"/>
                </a:solidFill>
                <a:latin typeface="Calibri"/>
              </a:rPr>
              <a:t>ResNet-34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A6A7B"/>
                </a:solidFill>
                <a:latin typeface="Calibri"/>
              </a:rPr>
              <a:t>Pretrained Backbone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468880" cy="1463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463040"/>
            <a:ext cx="246888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H100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603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A6A7B"/>
                </a:solidFill>
                <a:latin typeface="Calibri"/>
              </a:rPr>
              <a:t>GPU (Altair HPC)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2B4F"/>
                </a:solidFill>
                <a:latin typeface="Calibri"/>
              </a:rPr>
              <a:t>Training Stages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320040" cy="41148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033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1. Base 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033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10 epochs · AdamW · cosine LR · weighted 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320040" cy="41148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2. Adversarial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206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5 epochs · PGD ε=8/255 · 7 steps · α=2/255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320040" cy="41148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709159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091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3. Defensive Distillation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09159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5 epochs · teacher → student · T=20 · α=0.7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66360"/>
            <a:ext cx="320040" cy="41148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12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4. Detection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12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5 epochs · 512-dim features · FGSM+PGD samples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320040" cy="41148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15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2B4F"/>
                </a:solidFill>
                <a:latin typeface="Calibri"/>
              </a:rPr>
              <a:t>5. Full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715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A7B"/>
                </a:solidFill>
                <a:latin typeface="Calibri"/>
              </a:rPr>
              <a:t>4 attacks × 5 defenses = 20 combinations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Attack Success Rate (ASR)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A7B"/>
                </a:solidFill>
                <a:latin typeface="Calibri"/>
              </a:rPr>
              <a:t>Lower is better  |  % of correctly-classified images fooled by attack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37160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Attack ↓ / Defense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645920"/>
            <a:ext cx="196596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783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 Defense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45920"/>
            <a:ext cx="196596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783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Adv 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96596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 Transform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645920"/>
            <a:ext cx="196596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645920"/>
            <a:ext cx="1965960" cy="54864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1783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Distillation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194560"/>
            <a:ext cx="1371600" cy="6400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3774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FGSM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194560"/>
            <a:ext cx="1965960" cy="64008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23774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194560"/>
            <a:ext cx="1965960" cy="64008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23774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94560"/>
            <a:ext cx="1965960" cy="640080"/>
          </a:xfrm>
          <a:prstGeom prst="rect">
            <a:avLst/>
          </a:prstGeom>
          <a:solidFill>
            <a:srgbClr val="8AC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23774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194560"/>
            <a:ext cx="1965960" cy="64008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23774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2194560"/>
            <a:ext cx="1965960" cy="64008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23774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834639"/>
            <a:ext cx="1371600" cy="6400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PGD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834639"/>
            <a:ext cx="1965960" cy="64008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6000" y="30175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834639"/>
            <a:ext cx="1965960" cy="640080"/>
          </a:xfrm>
          <a:prstGeom prst="rect">
            <a:avLst/>
          </a:prstGeom>
          <a:solidFill>
            <a:srgbClr val="8AC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51960" y="30175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834639"/>
            <a:ext cx="196596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0175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53.8%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2834639"/>
            <a:ext cx="1965960" cy="64008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3879" y="30175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2834639"/>
            <a:ext cx="1965960" cy="64008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49840" y="30175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3474720"/>
            <a:ext cx="1371600" cy="6400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3657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Genetic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347472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86000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87.8%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3474720"/>
            <a:ext cx="196596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59.2%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474720"/>
            <a:ext cx="196596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0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69.2%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347472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83879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74.7%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347472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49840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85.8%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114800"/>
            <a:ext cx="1371600" cy="6400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42976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Diff. Evo.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4114800"/>
            <a:ext cx="1965960" cy="64008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86000" y="42976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97.9%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411480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51960" y="42976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71.4%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11480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42976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81.5%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4114800"/>
            <a:ext cx="1965960" cy="64008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83879" y="42976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84.8%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4114800"/>
            <a:ext cx="1965960" cy="64008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49840" y="42976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97.9%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02919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B4F"/>
                </a:solidFill>
                <a:latin typeface="Calibri"/>
              </a:rPr>
              <a:t>Color scale: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5029199"/>
            <a:ext cx="320040" cy="27432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68879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&lt; 10%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5029199"/>
            <a:ext cx="320040" cy="274320"/>
          </a:xfrm>
          <a:prstGeom prst="rect">
            <a:avLst/>
          </a:prstGeom>
          <a:solidFill>
            <a:srgbClr val="8AC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40480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10-40%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5029199"/>
            <a:ext cx="32004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12080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40-70%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5029199"/>
            <a:ext cx="320040" cy="274320"/>
          </a:xfrm>
          <a:prstGeom prst="rect">
            <a:avLst/>
          </a:prstGeom>
          <a:solidFill>
            <a:srgbClr val="E5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83680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70-90%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5029199"/>
            <a:ext cx="320040" cy="27432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55280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&gt; 90%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 &amp;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91440"/>
          </a:xfrm>
          <a:prstGeom prst="rect">
            <a:avLst/>
          </a:prstGeom>
          <a:solidFill>
            <a:srgbClr val="2EA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EA75C"/>
                </a:solidFill>
                <a:latin typeface="Calibri"/>
              </a:rPr>
              <a:t>Strongest Defenses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Distillation: 0.8% ASR vs PGD (best proactive)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Adversarial Training: 9.4% vs FGSM, 20.5% vs PGD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Detection Network: 0% vs FGSM (catches gradient attacks)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91440"/>
          </a:xfrm>
          <a:prstGeom prst="rect">
            <a:avLst/>
          </a:prstGeom>
          <a:solidFill>
            <a:srgbClr val="D9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4351"/>
                </a:solidFill>
                <a:latin typeface="Calibri"/>
              </a:rPr>
              <a:t>Weakest Combos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DE vs Distillation: 97.9% ASR (bypasses soft labels)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Genetic vs Distillation: 85.8% (EC evades smoothing)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Input Transform vs PGD: 53.8% (fails at high 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Gradient defenses (adv training, distillation) block gradient attacks but fail against black-box 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103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Evolutionary attacks (Genetic, DE) bypass defenses because they don't rely on gradients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943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Detection works well against ML attacks but is blind to evolutionary perturbations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784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No single defense is universal — layered defenses are essential for robustness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Demo, Stack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91440" cy="2743200"/>
          </a:xfrm>
          <a:prstGeom prst="rect">
            <a:avLst/>
          </a:prstGeom>
          <a:solidFill>
            <a:srgbClr val="1F8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87E0"/>
                </a:solidFill>
                <a:latin typeface="Calibri"/>
              </a:rPr>
              <a:t>Live Demo — Interactive Web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Upload/select road sign image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Pick attack + epsilon slider (0-0.15)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See perturbed image, prediction shift, confidence bars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Compare all 5 defense results side-by-side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91440" cy="2743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PyTorch 2.6 (CUDA 12.1) · torchvision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Flask + HTML/CSS/JS dashboard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NumPy · matplotlib · PIL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F2B4F"/>
                </a:solidFill>
                <a:latin typeface="Calibri"/>
              </a:rPr>
              <a:t>•  Altair HPC / pytorch_pbs Docker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11247120" cy="1965960"/>
          </a:xfrm>
          <a:prstGeom prst="rect">
            <a:avLst/>
          </a:prstGeom>
          <a:solidFill>
            <a:srgbClr val="0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Successfully implemented and evaluated 20 attack-defense combinations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30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Achieved 100% clean accuracy; robust accuracy varies 0-100% depending on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1441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Future: ensemble defenses, certified robustness, adaptive attacks, larger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A7B"/>
                </a:solidFill>
                <a:latin typeface="Calibri"/>
              </a:rPr>
              <a:t>Bypassing Detection — Adversarial Attacks &amp; Defenses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A7B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Custom</PresentationFormat>
  <Paragraphs>159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rana</cp:lastModifiedBy>
  <cp:revision>1</cp:revision>
  <dcterms:created xsi:type="dcterms:W3CDTF">2013-01-27T09:14:16Z</dcterms:created>
  <dcterms:modified xsi:type="dcterms:W3CDTF">2026-04-19T10:11:20Z</dcterms:modified>
  <cp:category/>
</cp:coreProperties>
</file>